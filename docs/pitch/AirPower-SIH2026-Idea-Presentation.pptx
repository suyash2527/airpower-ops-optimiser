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920240"/>
            <a:ext cx="612648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Char char="•"/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Problem Statement ID – </a:t>
            </a:r>
            <a:r>
              <a:rPr sz="1700" b="1" i="0" u="none">
                <a:solidFill>
                  <a:srgbClr val="1F497D"/>
                </a:solidFill>
                <a:latin typeface="Arial"/>
              </a:rPr>
              <a:t>SIH26250</a:t>
            </a:r>
          </a:p>
          <a:p>
            <a:pPr marL="274320" indent="-27432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Char char="•"/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Problem Statement Title- </a:t>
            </a:r>
            <a:r>
              <a:rPr sz="1700" b="1" i="0" u="none">
                <a:solidFill>
                  <a:srgbClr val="1F497D"/>
                </a:solidFill>
                <a:latin typeface="Arial"/>
              </a:rPr>
              <a:t>Planning and dynamically retasking air operations in a contested, rapidly changing environment</a:t>
            </a:r>
          </a:p>
          <a:p>
            <a:pPr marL="274320" indent="-27432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Char char="•"/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Theme- </a:t>
            </a:r>
            <a:r>
              <a:rPr sz="1700" b="1" i="0" u="none">
                <a:solidFill>
                  <a:srgbClr val="1F497D"/>
                </a:solidFill>
                <a:latin typeface="Arial"/>
              </a:rPr>
              <a:t>Transportation &amp; Logistics</a:t>
            </a:r>
          </a:p>
          <a:p>
            <a:pPr marL="274320" indent="-27432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Char char="•"/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PS Category- </a:t>
            </a:r>
            <a:r>
              <a:rPr sz="1700" b="1" i="0" u="none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marL="274320" indent="-27432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Char char="•"/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Team ID- </a:t>
            </a:r>
            <a:r>
              <a:rPr sz="1700" b="1" i="0" u="none">
                <a:solidFill>
                  <a:srgbClr val="1F497D"/>
                </a:solidFill>
                <a:latin typeface="Arial"/>
              </a:rPr>
              <a:t>133847</a:t>
            </a:r>
          </a:p>
          <a:p>
            <a:pPr marL="274320" indent="-27432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Char char="•"/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Team Name (Registered on portal)- </a:t>
            </a:r>
            <a:r>
              <a:rPr sz="1700" b="1" i="0" u="none">
                <a:solidFill>
                  <a:srgbClr val="1F497D"/>
                </a:solidFill>
                <a:latin typeface="Arial"/>
              </a:rPr>
              <a:t>CodeVerse</a:t>
            </a:r>
          </a:p>
          <a:p>
            <a:pPr marL="274320" indent="-27432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Char char="•"/>
            </a:pPr>
            <a:r>
              <a:rPr sz="1700" b="1" i="0" u="none">
                <a:solidFill>
                  <a:srgbClr val="000000"/>
                </a:solidFill>
                <a:latin typeface="Arial"/>
              </a:rPr>
              <a:t>GitHub- </a:t>
            </a:r>
            <a:r>
              <a:rPr sz="1700" b="1" i="0" u="none">
                <a:solidFill>
                  <a:srgbClr val="1F497D"/>
                </a:solidFill>
                <a:latin typeface="Arial"/>
              </a:rPr>
              <a:t>Suyash2527/airpower-ops-optimiser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804672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AIRPOWER: AI Decision Support for Air Operations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CodeVerse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TextBox 15361"/>
          <p:cNvSpPr txBox="1"/>
          <p:nvPr/>
        </p:nvSpPr>
        <p:spPr>
          <a:xfrm>
            <a:off x="320040" y="1170432"/>
            <a:ext cx="115214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u="sng">
                <a:solidFill>
                  <a:srgbClr val="1F497D"/>
                </a:solidFill>
                <a:latin typeface="Arial"/>
              </a:rPr>
              <a:t>❖ 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20040" y="1517904"/>
            <a:ext cx="57607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AirPower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fuses scattered air-operations data into one live picture, builds an optimised plan with a reason for every assignment, and proposes ranked re-plans the moment anything changes. </a:t>
            </a:r>
            <a:r>
              <a:rPr sz="1150" b="1" i="0" u="none">
                <a:solidFill>
                  <a:srgbClr val="000000"/>
                </a:solidFill>
                <a:latin typeface="Arial"/>
              </a:rPr>
              <a:t>A human approves every change.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20040" y="2286000"/>
            <a:ext cx="5760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• Detailed explanation of the proposed solution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20040" y="2633472"/>
            <a:ext cx="1088136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Oval 15365"/>
          <p:cNvSpPr/>
          <p:nvPr/>
        </p:nvSpPr>
        <p:spPr>
          <a:xfrm>
            <a:off x="393192" y="2706624"/>
            <a:ext cx="274320" cy="27432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56615" y="2999232"/>
            <a:ext cx="10241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Fuse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 u="none">
                <a:solidFill>
                  <a:srgbClr val="595959"/>
                </a:solidFill>
                <a:latin typeface="Arial"/>
              </a:rPr>
              <a:t>sources, age, conflicts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1481328" y="2633472"/>
            <a:ext cx="1088136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Oval 15368"/>
          <p:cNvSpPr/>
          <p:nvPr/>
        </p:nvSpPr>
        <p:spPr>
          <a:xfrm>
            <a:off x="1554480" y="2706624"/>
            <a:ext cx="274320" cy="27432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1517904" y="2999232"/>
            <a:ext cx="10241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Check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 u="none">
                <a:solidFill>
                  <a:srgbClr val="595959"/>
                </a:solidFill>
                <a:latin typeface="Arial"/>
              </a:rPr>
              <a:t>every constraint per sortie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642616" y="2633472"/>
            <a:ext cx="1088136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2715768" y="2706624"/>
            <a:ext cx="274320" cy="27432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679192" y="2999232"/>
            <a:ext cx="10241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Optimise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 u="none">
                <a:solidFill>
                  <a:srgbClr val="595959"/>
                </a:solidFill>
                <a:latin typeface="Arial"/>
              </a:rPr>
              <a:t>CP-SAT + baselines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3803904" y="2633472"/>
            <a:ext cx="1088136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Oval 15374"/>
          <p:cNvSpPr/>
          <p:nvPr/>
        </p:nvSpPr>
        <p:spPr>
          <a:xfrm>
            <a:off x="3877056" y="2706624"/>
            <a:ext cx="274320" cy="274320"/>
          </a:xfrm>
          <a:prstGeom prst="ellipse">
            <a:avLst/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3840480" y="2999232"/>
            <a:ext cx="10241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50" b="1" i="0" u="none">
                <a:solidFill>
                  <a:srgbClr val="E98B1D"/>
                </a:solidFill>
                <a:latin typeface="Arial"/>
              </a:rPr>
              <a:t>Approve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 u="none">
                <a:solidFill>
                  <a:srgbClr val="595959"/>
                </a:solidFill>
                <a:latin typeface="Arial"/>
              </a:rPr>
              <a:t>human decision, audited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965192" y="2633472"/>
            <a:ext cx="1088136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Oval 15377"/>
          <p:cNvSpPr/>
          <p:nvPr/>
        </p:nvSpPr>
        <p:spPr>
          <a:xfrm>
            <a:off x="5038344" y="2706624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001768" y="2999232"/>
            <a:ext cx="10241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50" b="1" i="0" u="none">
                <a:solidFill>
                  <a:srgbClr val="2E8B57"/>
                </a:solidFill>
                <a:latin typeface="Arial"/>
              </a:rPr>
              <a:t>Retask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 u="none">
                <a:solidFill>
                  <a:srgbClr val="595959"/>
                </a:solidFill>
                <a:latin typeface="Arial"/>
              </a:rPr>
              <a:t>ranked options + diff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320040" y="3749039"/>
            <a:ext cx="5760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• How it addresses the problem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320040" y="411480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Data in silos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2359152" y="4114800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595959"/>
                </a:solidFill>
                <a:latin typeface="Arial"/>
              </a:rPr>
              <a:t>→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2633472" y="4114800"/>
            <a:ext cx="3447288" cy="292608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One fused picture with source and age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20040" y="448056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Slow, sub-optimal allocation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2359152" y="4480560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595959"/>
                </a:solidFill>
                <a:latin typeface="Arial"/>
              </a:rPr>
              <a:t>→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2633472" y="4480560"/>
            <a:ext cx="3447288" cy="292608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Optimised draft plan, every choice explained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320040" y="48463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Painful re-planning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2359152" y="4846320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595959"/>
                </a:solidFill>
                <a:latin typeface="Arial"/>
              </a:rPr>
              <a:t>→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2633472" y="4846320"/>
            <a:ext cx="3447288" cy="292608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Ranked options with a plan diff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320040" y="5257800"/>
            <a:ext cx="5760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• Innovation and uniqueness of the solution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320040" y="5550408"/>
            <a:ext cx="58521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Explainable by construction: reason code + sentence + next-best option</a:t>
            </a:r>
          </a:p>
          <a:p>
            <a:pPr marL="146304" indent="-146304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Stability-aware retasking: airborne sorties frozen, minimal-change variants</a:t>
            </a:r>
          </a:p>
          <a:p>
            <a:pPr marL="146304" indent="-146304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Independent validator: 0 violations across 60 benchmark plans</a:t>
            </a:r>
          </a:p>
        </p:txBody>
      </p:sp>
      <p:pic>
        <p:nvPicPr>
          <p:cNvPr id="15392" name="Picture 15391" descr="o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54480"/>
            <a:ext cx="5577840" cy="2889146"/>
          </a:xfrm>
          <a:prstGeom prst="rect">
            <a:avLst/>
          </a:prstGeom>
          <a:ln w="12700">
            <a:solidFill>
              <a:srgbClr val="D5DEE9"/>
            </a:solidFill>
          </a:ln>
        </p:spPr>
      </p:pic>
      <p:sp>
        <p:nvSpPr>
          <p:cNvPr id="15393" name="TextBox 15392"/>
          <p:cNvSpPr txBox="1"/>
          <p:nvPr/>
        </p:nvSpPr>
        <p:spPr>
          <a:xfrm>
            <a:off x="6263640" y="4471058"/>
            <a:ext cx="5577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 u="none">
                <a:solidFill>
                  <a:srgbClr val="595959"/>
                </a:solidFill>
                <a:latin typeface="Arial"/>
              </a:rPr>
              <a:t>Retasking option as the planner sees it: trade-offs and a sortie-level diff (prototype screenshot)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6263640" y="484632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6309359" y="4892040"/>
            <a:ext cx="1691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+8.0%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6309359" y="5349240"/>
            <a:ext cx="1691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95959"/>
                </a:solidFill>
                <a:latin typeface="Arial"/>
              </a:rPr>
              <a:t>priority-weighted coverage vs the greedy baseline (mean of 20 scenarios)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8138159" y="484632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TextBox 15397"/>
          <p:cNvSpPr txBox="1"/>
          <p:nvPr/>
        </p:nvSpPr>
        <p:spPr>
          <a:xfrm>
            <a:off x="8183879" y="4892040"/>
            <a:ext cx="1691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 u="none">
                <a:solidFill>
                  <a:srgbClr val="2E8B57"/>
                </a:solidFill>
                <a:latin typeface="Arial"/>
              </a:rPr>
              <a:t>+29.9%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183879" y="5349240"/>
            <a:ext cx="1691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95959"/>
                </a:solidFill>
                <a:latin typeface="Arial"/>
              </a:rPr>
              <a:t>vs first-in first-out planning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10012680" y="484632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10058400" y="4892040"/>
            <a:ext cx="1691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 u="none">
                <a:solidFill>
                  <a:srgbClr val="1F497D"/>
                </a:solidFill>
                <a:latin typeface="Arial"/>
              </a:rPr>
              <a:t>0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10058400" y="5349240"/>
            <a:ext cx="1691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95959"/>
                </a:solidFill>
                <a:latin typeface="Arial"/>
              </a:rPr>
              <a:t>validator violations in 60 plans; 385 tests pass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6263640" y="6035040"/>
            <a:ext cx="557784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595959"/>
                </a:solidFill>
                <a:latin typeface="Arial"/>
              </a:rPr>
              <a:t>Measured by benchmarks/run_benchmarks.py on synthetic scenarios; see benchmarks/RESULTS.md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CodeVerse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20040" y="1170432"/>
            <a:ext cx="115214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u="sng">
                <a:solidFill>
                  <a:srgbClr val="1F497D"/>
                </a:solidFill>
                <a:latin typeface="Arial"/>
              </a:rPr>
              <a:t>❖ 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11479" y="1645920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93192" y="1956816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Next.js · React · TypeScript · Tailwind. India map drawn in SVG from open data (no tile server).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6052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251959" y="1645920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API and data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33672" y="1956816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Python · FastAPI · Pydantic · SQLModel. SQLite for development, PostgreSQL when deployed.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0040" y="265176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411479" y="2743200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Optimisation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93192" y="3054096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Google OR-Tools CP-SAT, with greedy and FIFO baselines; shapely + pyproj for routes and zones.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60520" y="265176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251959" y="2743200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Assurance and hardware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233672" y="3054096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pytest (385 tests) and an independent plan validator. No special hardware: a standard CPU.</a:t>
            </a:r>
          </a:p>
        </p:txBody>
      </p:sp>
      <p:pic>
        <p:nvPicPr>
          <p:cNvPr id="17423" name="Picture 17422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54480"/>
            <a:ext cx="3794760" cy="1995366"/>
          </a:xfrm>
          <a:prstGeom prst="rect">
            <a:avLst/>
          </a:prstGeom>
          <a:ln w="12700">
            <a:solidFill>
              <a:srgbClr val="D5DEE9"/>
            </a:solidFill>
          </a:ln>
        </p:spPr>
      </p:pic>
      <p:sp>
        <p:nvSpPr>
          <p:cNvPr id="17424" name="TextBox 17423"/>
          <p:cNvSpPr txBox="1"/>
          <p:nvPr/>
        </p:nvSpPr>
        <p:spPr>
          <a:xfrm>
            <a:off x="8046720" y="3568134"/>
            <a:ext cx="3794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 u="none">
                <a:solidFill>
                  <a:srgbClr val="595959"/>
                </a:solidFill>
                <a:latin typeface="Arial"/>
              </a:rPr>
              <a:t>Plan timeline: sorties by aircraft, locked = airborne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0040" y="3840480"/>
            <a:ext cx="115214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u="sng">
                <a:solidFill>
                  <a:srgbClr val="1F497D"/>
                </a:solidFill>
                <a:latin typeface="Arial"/>
              </a:rPr>
              <a:t>❖ Methodology and process for implementation (Flow Charts/Images/ working prototype)</a:t>
            </a:r>
          </a:p>
        </p:txBody>
      </p:sp>
      <p:sp>
        <p:nvSpPr>
          <p:cNvPr id="17426" name="Pentagon 17425"/>
          <p:cNvSpPr/>
          <p:nvPr/>
        </p:nvSpPr>
        <p:spPr>
          <a:xfrm>
            <a:off x="320040" y="4224528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1 Ingest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20040" y="4663440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Adapter per source, provenance on every record</a:t>
            </a:r>
          </a:p>
        </p:txBody>
      </p:sp>
      <p:sp>
        <p:nvSpPr>
          <p:cNvPr id="17428" name="Pentagon 17427"/>
          <p:cNvSpPr/>
          <p:nvPr/>
        </p:nvSpPr>
        <p:spPr>
          <a:xfrm>
            <a:off x="2240280" y="4224528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2 Fuse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240280" y="4663440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Scored on trust, confidence and freshness; conflicts kept, stale flagged</a:t>
            </a:r>
          </a:p>
        </p:txBody>
      </p:sp>
      <p:sp>
        <p:nvSpPr>
          <p:cNvPr id="17430" name="Pentagon 17429"/>
          <p:cNvSpPr/>
          <p:nvPr/>
        </p:nvSpPr>
        <p:spPr>
          <a:xfrm>
            <a:off x="4160520" y="4224528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3 Check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160520" y="4663440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Range, stock, crew, duty, airspace, weather, threat</a:t>
            </a:r>
          </a:p>
        </p:txBody>
      </p:sp>
      <p:sp>
        <p:nvSpPr>
          <p:cNvPr id="17432" name="Pentagon 17431"/>
          <p:cNvSpPr/>
          <p:nvPr/>
        </p:nvSpPr>
        <p:spPr>
          <a:xfrm>
            <a:off x="6080760" y="4224528"/>
            <a:ext cx="1828800" cy="384048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4 Optimise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080760" y="4663440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CP-SAT within 20 s; greedy plan as warm start</a:t>
            </a:r>
          </a:p>
        </p:txBody>
      </p:sp>
      <p:sp>
        <p:nvSpPr>
          <p:cNvPr id="17434" name="Pentagon 17433"/>
          <p:cNvSpPr/>
          <p:nvPr/>
        </p:nvSpPr>
        <p:spPr>
          <a:xfrm>
            <a:off x="8001000" y="4224528"/>
            <a:ext cx="1828800" cy="384048"/>
          </a:xfrm>
          <a:prstGeom prst="homePlate">
            <a:avLst/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5 Approve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001000" y="4663440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Draft until a person approves; audit entry written</a:t>
            </a:r>
          </a:p>
        </p:txBody>
      </p:sp>
      <p:sp>
        <p:nvSpPr>
          <p:cNvPr id="17436" name="Pentagon 17435"/>
          <p:cNvSpPr/>
          <p:nvPr/>
        </p:nvSpPr>
        <p:spPr>
          <a:xfrm>
            <a:off x="9921240" y="4224528"/>
            <a:ext cx="1828800" cy="384048"/>
          </a:xfrm>
          <a:prstGeom prst="homePlat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6 Retask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921240" y="4663440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Event → affected sorties → ranked options and diff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20040" y="5532120"/>
            <a:ext cx="11521440" cy="713232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457200" y="5577840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Advisory only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no auto-execution, no targeting logic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251960" y="5577840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Every decision explained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reason code + plain sentence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046720" y="5577840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Seeded and reproducible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same seed, same scenario, same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CodeVerse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ectangle 17409"/>
          <p:cNvSpPr/>
          <p:nvPr/>
        </p:nvSpPr>
        <p:spPr>
          <a:xfrm>
            <a:off x="320040" y="1188720"/>
            <a:ext cx="3749039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572768"/>
            <a:ext cx="3749039" cy="2514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93192" y="1627632"/>
            <a:ext cx="3611880" cy="2423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2E8B57"/>
                </a:solidFill>
                <a:latin typeface="Arial"/>
              </a:rPr>
              <a:t>Technical: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working end-to-end prototype and test suite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2E8B57"/>
                </a:solidFill>
                <a:latin typeface="Arial"/>
              </a:rPr>
              <a:t>Compute: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laptop CPU; plans bounded at 20 s; no GPU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2E8B57"/>
                </a:solidFill>
                <a:latin typeface="Arial"/>
              </a:rPr>
              <a:t>Data: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adapter layer; real feeds replace synthetic ones by configuration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2E8B57"/>
                </a:solidFill>
                <a:latin typeface="Arial"/>
              </a:rPr>
              <a:t>Operational: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advisory, so command authority is unchanged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2E8B57"/>
                </a:solidFill>
                <a:latin typeface="Arial"/>
              </a:rPr>
              <a:t>Security: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runs offline and air-gapped; open-source stack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206240" y="1188720"/>
            <a:ext cx="3749039" cy="384048"/>
          </a:xfrm>
          <a:prstGeom prst="rect">
            <a:avLst/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206240" y="1572768"/>
            <a:ext cx="3749039" cy="2514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279392" y="1627632"/>
            <a:ext cx="3611880" cy="2423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B3372F"/>
                </a:solidFill>
                <a:latin typeface="Arial"/>
              </a:rPr>
              <a:t>Data access: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operational feeds are classified and fragmented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B3372F"/>
                </a:solidFill>
                <a:latin typeface="Arial"/>
              </a:rPr>
              <a:t>Data quality: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late or conflicting reports can mislead a plan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B3372F"/>
                </a:solidFill>
                <a:latin typeface="Arial"/>
              </a:rPr>
              <a:t>Trust: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planners will not act on a black box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B3372F"/>
                </a:solidFill>
                <a:latin typeface="Arial"/>
              </a:rPr>
              <a:t>Model fidelity: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performance and risk figures are placeholders today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B3372F"/>
                </a:solidFill>
                <a:latin typeface="Arial"/>
              </a:rPr>
              <a:t>Adoption: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doctrine, training, change management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8092440" y="1188720"/>
            <a:ext cx="3749039" cy="38404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8092440" y="1572768"/>
            <a:ext cx="3749039" cy="2514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8165592" y="1627632"/>
            <a:ext cx="3611880" cy="2423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Accreditation first: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on-premise, read-only adapters, role-based access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Freshness rules: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stale and conflict flags; a human can pin a value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Explain and approve: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reason codes, plan diff, audit trail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Real data: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replace placeholders with service-approved figures</a:t>
            </a:r>
          </a:p>
          <a:p>
            <a:pPr marL="146304" indent="-146304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Char char="•"/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Shadow mode: </a:t>
            </a:r>
            <a:r>
              <a:rPr sz="1150" b="0" i="0" u="none">
                <a:solidFill>
                  <a:srgbClr val="000000"/>
                </a:solidFill>
                <a:latin typeface="Arial"/>
              </a:rPr>
              <a:t>run beside today's process before any reliance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0040" y="4206240"/>
            <a:ext cx="5669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Measured on the prototype (benchmark, not claimed)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452628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56615" y="4572000"/>
            <a:ext cx="12984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0070C0"/>
                </a:solidFill>
                <a:latin typeface="Arial"/>
              </a:rPr>
              <a:t>20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56615" y="5029200"/>
            <a:ext cx="129844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95959"/>
                </a:solidFill>
                <a:latin typeface="Arial"/>
              </a:rPr>
              <a:t>seeded scenarios, 3 planners each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755648" y="452628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1792224" y="4572000"/>
            <a:ext cx="12984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0070C0"/>
                </a:solidFill>
                <a:latin typeface="Arial"/>
              </a:rPr>
              <a:t>17 of 20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792224" y="5029200"/>
            <a:ext cx="129844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95959"/>
                </a:solidFill>
                <a:latin typeface="Arial"/>
              </a:rPr>
              <a:t>scenarios where CP-SAT beat greedy; worse in 0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191256" y="452628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227832" y="4572000"/>
            <a:ext cx="12984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0070C0"/>
                </a:solidFill>
                <a:latin typeface="Arial"/>
              </a:rPr>
              <a:t>11 of 20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227832" y="5029200"/>
            <a:ext cx="129844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95959"/>
                </a:solidFill>
                <a:latin typeface="Arial"/>
              </a:rPr>
              <a:t>plans proven optimal within the 20 s limit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626864" y="452628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663440" y="4572000"/>
            <a:ext cx="12984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0070C0"/>
                </a:solidFill>
                <a:latin typeface="Arial"/>
              </a:rPr>
              <a:t>0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663440" y="5029200"/>
            <a:ext cx="1298448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95959"/>
                </a:solidFill>
                <a:latin typeface="Arial"/>
              </a:rPr>
              <a:t>violations in 60 validated plans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0040" y="5870448"/>
            <a:ext cx="56692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595959"/>
                </a:solidFill>
                <a:latin typeface="Arial"/>
              </a:rPr>
              <a:t>Where the optimiser times out it returns the best plan found; a fallback is always labelled as such. Source: benchmarks/RESULTS.md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172200" y="4206240"/>
            <a:ext cx="5669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Phased rollout and validation plan</a:t>
            </a:r>
          </a:p>
        </p:txBody>
      </p:sp>
      <p:sp>
        <p:nvSpPr>
          <p:cNvPr id="17434" name="Pentagon 17433"/>
          <p:cNvSpPr/>
          <p:nvPr/>
        </p:nvSpPr>
        <p:spPr>
          <a:xfrm>
            <a:off x="6172200" y="4526280"/>
            <a:ext cx="1371600" cy="36576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Pilot · 0-3 mo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172200" y="4937760"/>
            <a:ext cx="1371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000000"/>
                </a:solidFill>
                <a:latin typeface="Arial"/>
              </a:rPr>
              <a:t>1 planning cell, shadow mode, historical data</a:t>
            </a:r>
          </a:p>
        </p:txBody>
      </p:sp>
      <p:sp>
        <p:nvSpPr>
          <p:cNvPr id="17436" name="Pentagon 17435"/>
          <p:cNvSpPr/>
          <p:nvPr/>
        </p:nvSpPr>
        <p:spPr>
          <a:xfrm>
            <a:off x="7607808" y="4526280"/>
            <a:ext cx="1371600" cy="365760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Trial · 4-9 mo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607808" y="4937760"/>
            <a:ext cx="1371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000000"/>
                </a:solidFill>
                <a:latin typeface="Arial"/>
              </a:rPr>
              <a:t>live read-only feeds, 2 cells, KPIs tracked</a:t>
            </a:r>
          </a:p>
        </p:txBody>
      </p:sp>
      <p:sp>
        <p:nvSpPr>
          <p:cNvPr id="17438" name="Pentagon 17437"/>
          <p:cNvSpPr/>
          <p:nvPr/>
        </p:nvSpPr>
        <p:spPr>
          <a:xfrm>
            <a:off x="9043416" y="4526280"/>
            <a:ext cx="1371600" cy="365760"/>
          </a:xfrm>
          <a:prstGeom prst="homePlat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Expand · 10-18 mo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9043416" y="4937760"/>
            <a:ext cx="1371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000000"/>
                </a:solidFill>
                <a:latin typeface="Arial"/>
              </a:rPr>
              <a:t>command-wide; ML models on real data</a:t>
            </a:r>
          </a:p>
        </p:txBody>
      </p:sp>
      <p:sp>
        <p:nvSpPr>
          <p:cNvPr id="17440" name="Pentagon 17439"/>
          <p:cNvSpPr/>
          <p:nvPr/>
        </p:nvSpPr>
        <p:spPr>
          <a:xfrm>
            <a:off x="10479024" y="4526280"/>
            <a:ext cx="1371600" cy="365760"/>
          </a:xfrm>
          <a:prstGeom prst="homePlate">
            <a:avLst/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Scale · Yr 2+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10479024" y="4937760"/>
            <a:ext cx="13716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000000"/>
                </a:solidFill>
                <a:latin typeface="Arial"/>
              </a:rPr>
              <a:t>joint and HADR operations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172200" y="5870448"/>
            <a:ext cx="56692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000000"/>
                </a:solidFill>
                <a:latin typeface="Arial"/>
              </a:rPr>
              <a:t>Pilot KPIs: time to first approved plan, re-plan latency, priority-weighted coverage, share of proposals accepted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CodeVerse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20040" y="1170432"/>
            <a:ext cx="70408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u="sng">
                <a:solidFill>
                  <a:srgbClr val="1F497D"/>
                </a:solidFill>
                <a:latin typeface="Arial"/>
              </a:rPr>
              <a:t>❖ Potential impact on the target audience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20040" y="1581912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49808" y="1554480"/>
            <a:ext cx="6675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70C0"/>
                </a:solidFill>
                <a:latin typeface="Arial"/>
              </a:rPr>
              <a:t>Air-ops planners </a:t>
            </a:r>
            <a:r>
              <a:rPr sz="1050" b="0" i="0" u="none">
                <a:solidFill>
                  <a:srgbClr val="000000"/>
                </a:solidFill>
                <a:latin typeface="Arial"/>
              </a:rPr>
              <a:t>One fused picture and an explained draft plan instead of manual collation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320040" y="2039112"/>
            <a:ext cx="347472" cy="347472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49808" y="2011680"/>
            <a:ext cx="6675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Duty controllers </a:t>
            </a:r>
            <a:r>
              <a:rPr sz="1050" b="0" i="0" u="none">
                <a:solidFill>
                  <a:srgbClr val="000000"/>
                </a:solidFill>
                <a:latin typeface="Arial"/>
              </a:rPr>
              <a:t>A disruption becomes affected sorties and ranked options, not a scramble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320040" y="2496312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K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49808" y="2468880"/>
            <a:ext cx="6675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2E8B57"/>
                </a:solidFill>
                <a:latin typeface="Arial"/>
              </a:rPr>
              <a:t>Commanders </a:t>
            </a:r>
            <a:r>
              <a:rPr sz="1050" b="0" i="0" u="none">
                <a:solidFill>
                  <a:srgbClr val="000000"/>
                </a:solidFill>
                <a:latin typeface="Arial"/>
              </a:rPr>
              <a:t>Coverage by priority, risk and a full audit trail at a glance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320040" y="2953512"/>
            <a:ext cx="347472" cy="347472"/>
          </a:xfrm>
          <a:prstGeom prst="ellipse">
            <a:avLst/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49808" y="2926080"/>
            <a:ext cx="6675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E98B1D"/>
                </a:solidFill>
                <a:latin typeface="Arial"/>
              </a:rPr>
              <a:t>HADR / NDMA relief </a:t>
            </a:r>
            <a:r>
              <a:rPr sz="1050" b="0" i="0" u="none">
                <a:solidFill>
                  <a:srgbClr val="000000"/>
                </a:solidFill>
                <a:latin typeface="Arial"/>
              </a:rPr>
              <a:t>Relief airlift allocated by priority and weather with the same engine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320040" y="3410712"/>
            <a:ext cx="347472" cy="347472"/>
          </a:xfrm>
          <a:prstGeom prst="ellipse">
            <a:avLst/>
          </a:prstGeom>
          <a:solidFill>
            <a:srgbClr val="B3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49808" y="3383280"/>
            <a:ext cx="6675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B3372F"/>
                </a:solidFill>
                <a:latin typeface="Arial"/>
              </a:rPr>
              <a:t>Crew and maintenance </a:t>
            </a:r>
            <a:r>
              <a:rPr sz="1050" b="0" i="0" u="none">
                <a:solidFill>
                  <a:srgbClr val="000000"/>
                </a:solidFill>
                <a:latin typeface="Arial"/>
              </a:rPr>
              <a:t>Duty, rest and maintenance limits enforced at plan time, with the reason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20040" y="3931920"/>
            <a:ext cx="70408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u="sng">
                <a:solidFill>
                  <a:srgbClr val="1F497D"/>
                </a:solidFill>
                <a:latin typeface="Arial"/>
              </a:rPr>
              <a:t>❖ Benefits of the solution (social, economic, environmental, etc.)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320040" y="4297680"/>
            <a:ext cx="1719072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320040" y="4608576"/>
            <a:ext cx="1719072" cy="1645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65759" y="4663440"/>
            <a:ext cx="1627632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Faster relief airlift in floods and cyclones</a:t>
            </a:r>
          </a:p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Less decision stress on planners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2121408" y="4297680"/>
            <a:ext cx="1719072" cy="310896"/>
          </a:xfrm>
          <a:prstGeom prst="rect">
            <a:avLst/>
          </a:prstGeom>
          <a:solidFill>
            <a:srgbClr val="E98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2121408" y="4608576"/>
            <a:ext cx="1719072" cy="1645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2167127" y="4663440"/>
            <a:ext cx="1627632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Fewer wasted sorties and flying hours</a:t>
            </a:r>
          </a:p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Open-source stack, no licence cost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922776" y="4297680"/>
            <a:ext cx="1719072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922776" y="4608576"/>
            <a:ext cx="1719072" cy="1645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3968496" y="4663440"/>
            <a:ext cx="1627632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Less unnecessary flying, so less fuel burned</a:t>
            </a:r>
          </a:p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Targeted re-plans, not full re-flights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5724144" y="4297680"/>
            <a:ext cx="1719072" cy="31089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5724144" y="4608576"/>
            <a:ext cx="1719072" cy="1645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5769864" y="4663440"/>
            <a:ext cx="1627632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Human approval on every change</a:t>
            </a:r>
          </a:p>
          <a:p>
            <a:pPr marL="146304" indent="-146304">
              <a:spcBef>
                <a:spcPts val="0"/>
              </a:spcBef>
              <a:spcAft>
                <a:spcPts val="800"/>
              </a:spcAft>
              <a:buClr>
                <a:srgbClr val="0070C0"/>
              </a:buClr>
              <a:buChar char="•"/>
            </a:pPr>
            <a:r>
              <a:rPr sz="1100" b="0" i="0" u="none">
                <a:solidFill>
                  <a:srgbClr val="000000"/>
                </a:solidFill>
                <a:latin typeface="Arial"/>
              </a:rPr>
              <a:t>Append-only audit trail</a:t>
            </a:r>
          </a:p>
        </p:txBody>
      </p:sp>
      <p:pic>
        <p:nvPicPr>
          <p:cNvPr id="17434" name="Picture 17433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554480"/>
            <a:ext cx="4206240" cy="3017324"/>
          </a:xfrm>
          <a:prstGeom prst="rect">
            <a:avLst/>
          </a:prstGeom>
          <a:ln w="12700">
            <a:solidFill>
              <a:srgbClr val="D5DEE9"/>
            </a:solidFill>
          </a:ln>
        </p:spPr>
      </p:pic>
      <p:sp>
        <p:nvSpPr>
          <p:cNvPr id="17435" name="TextBox 17434"/>
          <p:cNvSpPr txBox="1"/>
          <p:nvPr/>
        </p:nvSpPr>
        <p:spPr>
          <a:xfrm>
            <a:off x="7635240" y="4590092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1" u="none">
                <a:solidFill>
                  <a:srgbClr val="595959"/>
                </a:solidFill>
                <a:latin typeface="Arial"/>
              </a:rPr>
              <a:t>Operating picture: bases, mission areas by priority, threat zones, airspace, sorties. Outline: Natural Earth, not authoritative.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7635240" y="4937760"/>
            <a:ext cx="4206240" cy="12984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726679" y="4983480"/>
            <a:ext cx="40233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Pilot KPIs (baseline measured in shadow mode)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Time to first approved plan vs the current process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Re-plan latency after a disruption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Priority-weighted coverage; sorties lost to late changes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CodeVerse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20040" y="1170432"/>
            <a:ext cx="115214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 u="sng">
                <a:solidFill>
                  <a:srgbClr val="1F497D"/>
                </a:solidFill>
                <a:latin typeface="Arial"/>
              </a:rPr>
              <a:t>❖ 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536192"/>
            <a:ext cx="77724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Problem and doctrine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810512"/>
            <a:ext cx="77724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SIH 2026, Problem Statement SIH26250 (Ministry of Defence) · sih.gov.in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US Joint Chiefs of Staff, JP 3-30 Joint Air Operations (joint air tasking cycle) · jcs.mil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NDMA, National Disaster Management Plan: air support for HADR · ndma.gov.in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2542032"/>
            <a:ext cx="77724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Human factors and automation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20040" y="2816351"/>
            <a:ext cx="77724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Endsley (1995). Toward a theory of situation awareness in dynamic systems. Human Factors 37(1) · doi.org/10.1518/001872095779049543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Parasuraman, Sheridan, Wickens (2000). A model for types and levels of human interaction with automation. IEEE Trans. SMC-A 30(3) · doi.org/10.1109/3468.844354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3639312"/>
            <a:ext cx="77724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Optimisation and open data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0040" y="3913632"/>
            <a:ext cx="77724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Google OR-Tools, CP-SAT solver (Apache-2.0) · developers.google.com/optimization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Gopalan and Talluri (1998). Mathematical models in airline schedule planning: a survey. Annals of Operations Research 76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Barnhart et al. (2003). Airline crew scheduling. Handbook of Transportation Science</a:t>
            </a:r>
          </a:p>
          <a:p>
            <a:pPr marL="146304" indent="-146304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Char char="•"/>
            </a:pPr>
            <a:r>
              <a:rPr sz="1000" b="0" i="0" u="none">
                <a:solidFill>
                  <a:srgbClr val="000000"/>
                </a:solidFill>
                <a:latin typeface="Arial"/>
              </a:rPr>
              <a:t>Natural Earth admin-0, India point of view · OurAirports · Open-Meteo elevation API (open data)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366760" y="1554480"/>
            <a:ext cx="34747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8366760" y="1609344"/>
            <a:ext cx="3474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SEE THE CODE · CHECK THE NUMBERS</a:t>
            </a:r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938528"/>
            <a:ext cx="1828800" cy="182880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412480" y="3785615"/>
            <a:ext cx="3383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000000"/>
                </a:solidFill>
                <a:latin typeface="Arial"/>
              </a:rPr>
              <a:t>Source 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0070C0"/>
                </a:solidFill>
                <a:latin typeface="Arial"/>
              </a:rPr>
              <a:t>github.com/Suyash2527/airpower-ops-optimiser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20040" y="4956048"/>
            <a:ext cx="115214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Data used in the prototype (transparency)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320040" y="5230368"/>
            <a:ext cx="11521440" cy="10241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11480" y="5266944"/>
            <a:ext cx="11338560" cy="9692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46304"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Real open data: </a:t>
            </a:r>
            <a:r>
              <a:rPr sz="1000" b="0" i="0" u="none">
                <a:solidFill>
                  <a:srgbClr val="000000"/>
                </a:solidFill>
                <a:latin typeface="Arial"/>
              </a:rPr>
              <a:t>map outline (Natural Earth), alternate civil airfields (OurAirports), base elevations (Open-Meteo).</a:t>
            </a:r>
          </a:p>
          <a:p>
            <a:pPr marL="146304" indent="-146304"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Char char="•"/>
            </a:pPr>
            <a:r>
              <a:rPr sz="1000" b="1" i="0" u="none">
                <a:solidFill>
                  <a:srgbClr val="E98B1D"/>
                </a:solidFill>
                <a:latin typeface="Arial"/>
              </a:rPr>
              <a:t>Synthetic data: </a:t>
            </a:r>
            <a:r>
              <a:rPr sz="1000" b="0" i="0" u="none">
                <a:solidFill>
                  <a:srgbClr val="000000"/>
                </a:solidFill>
                <a:latin typeface="Arial"/>
              </a:rPr>
              <a:t>all bases, units, aircraft, crews, missions, threats, weather and events are generated from a seed and labelled SYNTHETIC in the app; performance figures are illustrative.</a:t>
            </a:r>
          </a:p>
          <a:p>
            <a:pPr marL="146304" indent="-146304"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Char char="•"/>
            </a:pPr>
            <a:r>
              <a:rPr sz="1000" b="1" i="0" u="none">
                <a:solidFill>
                  <a:srgbClr val="2E8B57"/>
                </a:solidFill>
                <a:latin typeface="Arial"/>
              </a:rPr>
              <a:t>Measured results: </a:t>
            </a:r>
            <a:r>
              <a:rPr sz="1000" b="0" i="0" u="none">
                <a:solidFill>
                  <a:srgbClr val="000000"/>
                </a:solidFill>
                <a:latin typeface="Arial"/>
              </a:rPr>
              <a:t>20 seeded scenarios, 3 planners each; the script and CSV are in the repository, so no figure is typed in by hand.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